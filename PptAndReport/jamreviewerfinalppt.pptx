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9"/>
  </p:notesMasterIdLst>
  <p:sldIdLst>
    <p:sldId id="281" r:id="rId2"/>
    <p:sldId id="313" r:id="rId3"/>
    <p:sldId id="315" r:id="rId4"/>
    <p:sldId id="316" r:id="rId5"/>
    <p:sldId id="318" r:id="rId6"/>
    <p:sldId id="321" r:id="rId7"/>
    <p:sldId id="314" r:id="rId8"/>
  </p:sldIdLst>
  <p:sldSz cx="9144000" cy="6858000" type="screen4x3"/>
  <p:notesSz cx="9144000" cy="6858000"/>
  <p:defaultTextStyle>
    <a:defPPr>
      <a:defRPr lang="en-US"/>
    </a:defPPr>
    <a:lvl1pPr algn="l" rtl="0" fontAlgn="base">
      <a:spcBef>
        <a:spcPct val="0"/>
      </a:spcBef>
      <a:spcAft>
        <a:spcPct val="0"/>
      </a:spcAft>
      <a:defRPr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run kumar" initials="vk" lastIdx="1" clrIdx="0">
    <p:extLst>
      <p:ext uri="{19B8F6BF-5375-455C-9EA6-DF929625EA0E}">
        <p15:presenceInfo xmlns:p15="http://schemas.microsoft.com/office/powerpoint/2012/main" userId="ac3c5a766e6afc2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4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ABEBC1FE-0D27-420D-ACF3-3E7C33926969}" type="datetimeFigureOut">
              <a:rPr lang="en-IN" smtClean="0"/>
              <a:t>07-05-2026</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0922932-FB73-4B31-94D5-4A7F88516CBD}" type="slidenum">
              <a:rPr lang="en-IN" smtClean="0"/>
              <a:t>‹#›</a:t>
            </a:fld>
            <a:endParaRPr lang="en-IN"/>
          </a:p>
        </p:txBody>
      </p:sp>
    </p:spTree>
    <p:extLst>
      <p:ext uri="{BB962C8B-B14F-4D97-AF65-F5344CB8AC3E}">
        <p14:creationId xmlns:p14="http://schemas.microsoft.com/office/powerpoint/2010/main" val="10777442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p>
            <a:r>
              <a:rPr lang="en-US"/>
              <a:t>Click to edit Master title style</a:t>
            </a:r>
            <a:endParaRPr lang="en-US" dirty="0"/>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11"/>
          </p:nvPr>
        </p:nvSpPr>
        <p:spPr/>
        <p:txBody>
          <a:bodyPr/>
          <a:lstStyle>
            <a:lvl1pPr>
              <a:defRPr/>
            </a:lvl1pPr>
          </a:lstStyle>
          <a:p>
            <a:endParaRPr lang="en-IN"/>
          </a:p>
        </p:txBody>
      </p:sp>
      <p:sp>
        <p:nvSpPr>
          <p:cNvPr id="6"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spTree>
    <p:extLst>
      <p:ext uri="{BB962C8B-B14F-4D97-AF65-F5344CB8AC3E}">
        <p14:creationId xmlns:p14="http://schemas.microsoft.com/office/powerpoint/2010/main" val="1475965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p:nvPicPr>
        <p:blipFill>
          <a:blip r:embed="rId2"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userDrawn="1"/>
        </p:nvGrpSpPr>
        <p:grpSpPr bwMode="auto">
          <a:xfrm>
            <a:off x="6552602" y="0"/>
            <a:ext cx="2134198" cy="876300"/>
            <a:chOff x="6477000" y="3924300"/>
            <a:chExt cx="2235200" cy="876300"/>
          </a:xfrm>
        </p:grpSpPr>
        <p:sp>
          <p:nvSpPr>
            <p:cNvPr id="6" name="Rectangle 11"/>
            <p:cNvSpPr>
              <a:spLocks noChangeArrowheads="1"/>
            </p:cNvSpPr>
            <p:nvPr/>
          </p:nvSpPr>
          <p:spPr bwMode="auto">
            <a:xfrm>
              <a:off x="6502400" y="3924300"/>
              <a:ext cx="2209800" cy="838200"/>
            </a:xfrm>
            <a:prstGeom prst="rect">
              <a:avLst/>
            </a:prstGeom>
            <a:solidFill>
              <a:srgbClr val="FF3300"/>
            </a:solidFill>
            <a:ln w="9525">
              <a:noFill/>
              <a:miter lim="800000"/>
              <a:headEnd/>
              <a:tailEnd/>
            </a:ln>
          </p:spPr>
          <p:txBody>
            <a:bodyPr wrap="none" anchor="ctr"/>
            <a:lstStyle/>
            <a:p>
              <a:endParaRPr lang="en-US" dirty="0">
                <a:latin typeface="Calibri" pitchFamily="34" charset="0"/>
              </a:endParaRPr>
            </a:p>
          </p:txBody>
        </p:sp>
        <p:pic>
          <p:nvPicPr>
            <p:cNvPr id="7" name="Picture 9" descr="LOGO.gif"/>
            <p:cNvPicPr>
              <a:picLocks noChangeAspect="1"/>
            </p:cNvPicPr>
            <p:nvPr/>
          </p:nvPicPr>
          <p:blipFill>
            <a:blip r:embed="rId2" cstate="print"/>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2" name="Title 1"/>
          <p:cNvSpPr>
            <a:spLocks noGrp="1"/>
          </p:cNvSpPr>
          <p:nvPr>
            <p:ph type="title"/>
          </p:nvPr>
        </p:nvSpPr>
        <p:spPr>
          <a:xfrm>
            <a:off x="-1" y="0"/>
            <a:ext cx="6507541" cy="838200"/>
          </a:xfrm>
        </p:spPr>
        <p:txBody>
          <a:bodyPr/>
          <a:lstStyle/>
          <a:p>
            <a:r>
              <a:rPr lang="en-US"/>
              <a:t>Click to edit Master title style</a:t>
            </a:r>
            <a:endParaRPr lang="en-US" dirty="0"/>
          </a:p>
        </p:txBody>
      </p:sp>
      <p:sp>
        <p:nvSpPr>
          <p:cNvPr id="3" name="Content Placeholder 2"/>
          <p:cNvSpPr>
            <a:spLocks noGrp="1"/>
          </p:cNvSpPr>
          <p:nvPr>
            <p:ph idx="1"/>
          </p:nvPr>
        </p:nvSpPr>
        <p:spPr>
          <a:xfrm>
            <a:off x="457200" y="1374784"/>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p:txBody>
          <a:bodyPr/>
          <a:lstStyle>
            <a:lvl1pPr>
              <a:defRPr/>
            </a:lvl1pPr>
          </a:lstStyle>
          <a:p>
            <a:fld id="{1D8BD707-D9CF-40AE-B4C6-C98DA3205C09}" type="datetimeFigureOut">
              <a:rPr lang="en-US" smtClean="0"/>
              <a:pPr/>
              <a:t>5/7/2026</a:t>
            </a:fld>
            <a:endParaRPr lang="en-US"/>
          </a:p>
        </p:txBody>
      </p:sp>
      <p:sp>
        <p:nvSpPr>
          <p:cNvPr id="11" name="Footer Placeholder 4"/>
          <p:cNvSpPr>
            <a:spLocks noGrp="1"/>
          </p:cNvSpPr>
          <p:nvPr>
            <p:ph type="ftr" sz="quarter" idx="11"/>
          </p:nvPr>
        </p:nvSpPr>
        <p:spPr/>
        <p:txBody>
          <a:bodyPr/>
          <a:lstStyle>
            <a:lvl1pPr>
              <a:defRPr/>
            </a:lvl1pPr>
          </a:lstStyle>
          <a:p>
            <a:endParaRPr lang="en-IN"/>
          </a:p>
        </p:txBody>
      </p:sp>
      <p:sp>
        <p:nvSpPr>
          <p:cNvPr id="12" name="Slide Number Placeholder 5"/>
          <p:cNvSpPr>
            <a:spLocks noGrp="1"/>
          </p:cNvSpPr>
          <p:nvPr>
            <p:ph type="sldNum" sz="quarter" idx="12"/>
          </p:nvPr>
        </p:nvSpPr>
        <p:spPr/>
        <p:txBody>
          <a:bodyPr/>
          <a:lstStyle>
            <a:lvl1pPr>
              <a:defRPr/>
            </a:lvl1pPr>
          </a:lstStyle>
          <a:p>
            <a:pPr marL="38100">
              <a:lnSpc>
                <a:spcPts val="1630"/>
              </a:lnSpc>
            </a:pPr>
            <a:fld id="{81D60167-4931-47E6-BA6A-407CBD079E47}" type="slidenum">
              <a:rPr lang="en-IN" smtClean="0"/>
              <a:pPr marL="38100">
                <a:lnSpc>
                  <a:spcPts val="1630"/>
                </a:lnSpc>
              </a:pPr>
              <a:t>‹#›</a:t>
            </a:fld>
            <a:endParaRPr lang="en-IN" dirty="0"/>
          </a:p>
        </p:txBody>
      </p:sp>
      <p:pic>
        <p:nvPicPr>
          <p:cNvPr id="13" name="Picture 12">
            <a:extLst>
              <a:ext uri="{FF2B5EF4-FFF2-40B4-BE49-F238E27FC236}">
                <a16:creationId xmlns:a16="http://schemas.microsoft.com/office/drawing/2014/main" id="{293B4335-2E7A-5CEC-C0E8-EFDCD91AFC94}"/>
              </a:ext>
            </a:extLst>
          </p:cNvPr>
          <p:cNvPicPr>
            <a:picLocks noChangeAspect="1"/>
          </p:cNvPicPr>
          <p:nvPr userDrawn="1"/>
        </p:nvPicPr>
        <p:blipFill>
          <a:blip r:embed="rId3" cstate="print"/>
          <a:stretch>
            <a:fillRect/>
          </a:stretch>
        </p:blipFill>
        <p:spPr>
          <a:xfrm>
            <a:off x="6588720" y="201617"/>
            <a:ext cx="1828800" cy="923925"/>
          </a:xfrm>
          <a:prstGeom prst="rect">
            <a:avLst/>
          </a:prstGeom>
        </p:spPr>
      </p:pic>
    </p:spTree>
    <p:extLst>
      <p:ext uri="{BB962C8B-B14F-4D97-AF65-F5344CB8AC3E}">
        <p14:creationId xmlns:p14="http://schemas.microsoft.com/office/powerpoint/2010/main" val="5279292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fld id="{1D8BD707-D9CF-40AE-B4C6-C98DA3205C09}" type="datetimeFigureOut">
              <a:rPr lang="en-US" smtClean="0"/>
              <a:pPr/>
              <a:t>5/7/2026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ea typeface="ＭＳ Ｐゴシック" charset="-128"/>
                <a:cs typeface="+mn-cs"/>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pPr marL="38100">
              <a:lnSpc>
                <a:spcPts val="1630"/>
              </a:lnSpc>
            </a:pPr>
            <a:fld id="{81D60167-4931-47E6-BA6A-407CBD079E47}" type="slidenum">
              <a:rPr lang="en-IN" smtClean="0"/>
              <a:pPr marL="38100">
                <a:lnSpc>
                  <a:spcPts val="1630"/>
                </a:lnSpc>
              </a:pPr>
              <a:t>‹#›</a:t>
            </a:fld>
            <a:endParaRPr lang="en-IN" dirty="0"/>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a:latin typeface="Calibri" charset="0"/>
              <a:ea typeface="ＭＳ Ｐゴシック" charset="-128"/>
            </a:endParaRPr>
          </a:p>
        </p:txBody>
      </p:sp>
      <p:pic>
        <p:nvPicPr>
          <p:cNvPr id="1035"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cstate="print"/>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a:latin typeface="Calibri" pitchFamily="34" charset="0"/>
              </a:endParaRPr>
            </a:p>
          </p:txBody>
        </p:sp>
        <p:pic>
          <p:nvPicPr>
            <p:cNvPr id="1040" name="Picture 9" descr="LOGO.gif"/>
            <p:cNvPicPr>
              <a:picLocks noChangeAspect="1"/>
            </p:cNvPicPr>
            <p:nvPr/>
          </p:nvPicPr>
          <p:blipFill>
            <a:blip r:embed="rId4" cstate="print"/>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pic>
        <p:nvPicPr>
          <p:cNvPr id="2" name="Picture 1">
            <a:extLst>
              <a:ext uri="{FF2B5EF4-FFF2-40B4-BE49-F238E27FC236}">
                <a16:creationId xmlns:a16="http://schemas.microsoft.com/office/drawing/2014/main" id="{8E336C4E-A392-8729-E9AD-5C8843EB4C8A}"/>
              </a:ext>
            </a:extLst>
          </p:cNvPr>
          <p:cNvPicPr>
            <a:picLocks noChangeAspect="1"/>
          </p:cNvPicPr>
          <p:nvPr userDrawn="1"/>
        </p:nvPicPr>
        <p:blipFill>
          <a:blip r:embed="rId5" cstate="print"/>
          <a:stretch>
            <a:fillRect/>
          </a:stretch>
        </p:blipFill>
        <p:spPr>
          <a:xfrm>
            <a:off x="6629400" y="201617"/>
            <a:ext cx="1828800" cy="923925"/>
          </a:xfrm>
          <a:prstGeom prst="rect">
            <a:avLst/>
          </a:prstGeom>
        </p:spPr>
      </p:pic>
    </p:spTree>
    <p:extLst>
      <p:ext uri="{BB962C8B-B14F-4D97-AF65-F5344CB8AC3E}">
        <p14:creationId xmlns:p14="http://schemas.microsoft.com/office/powerpoint/2010/main" val="2688698933"/>
      </p:ext>
    </p:extLst>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ctr" rtl="0" eaLnBrk="1" fontAlgn="base" hangingPunct="1">
        <a:spcBef>
          <a:spcPct val="0"/>
        </a:spcBef>
        <a:spcAft>
          <a:spcPct val="0"/>
        </a:spcAft>
        <a:defRPr sz="3000" kern="1200">
          <a:solidFill>
            <a:schemeClr val="tx1"/>
          </a:solidFill>
          <a:latin typeface="+mj-lt"/>
          <a:ea typeface="MS PGothic"/>
          <a:cs typeface="MS PGothic"/>
        </a:defRPr>
      </a:lvl1pPr>
      <a:lvl2pPr algn="ctr" rtl="0" eaLnBrk="1" fontAlgn="base" hangingPunct="1">
        <a:spcBef>
          <a:spcPct val="0"/>
        </a:spcBef>
        <a:spcAft>
          <a:spcPct val="0"/>
        </a:spcAft>
        <a:defRPr sz="3000">
          <a:solidFill>
            <a:schemeClr val="tx1"/>
          </a:solidFill>
          <a:latin typeface="Calibri" charset="0"/>
          <a:ea typeface="MS PGothic"/>
          <a:cs typeface="MS PGothic"/>
        </a:defRPr>
      </a:lvl2pPr>
      <a:lvl3pPr algn="ctr" rtl="0" eaLnBrk="1" fontAlgn="base" hangingPunct="1">
        <a:spcBef>
          <a:spcPct val="0"/>
        </a:spcBef>
        <a:spcAft>
          <a:spcPct val="0"/>
        </a:spcAft>
        <a:defRPr sz="3000">
          <a:solidFill>
            <a:schemeClr val="tx1"/>
          </a:solidFill>
          <a:latin typeface="Calibri" charset="0"/>
          <a:ea typeface="MS PGothic"/>
          <a:cs typeface="MS PGothic"/>
        </a:defRPr>
      </a:lvl3pPr>
      <a:lvl4pPr algn="ctr" rtl="0" eaLnBrk="1" fontAlgn="base" hangingPunct="1">
        <a:spcBef>
          <a:spcPct val="0"/>
        </a:spcBef>
        <a:spcAft>
          <a:spcPct val="0"/>
        </a:spcAft>
        <a:defRPr sz="3000">
          <a:solidFill>
            <a:schemeClr val="tx1"/>
          </a:solidFill>
          <a:latin typeface="Calibri" charset="0"/>
          <a:ea typeface="MS PGothic"/>
          <a:cs typeface="MS PGothic"/>
        </a:defRPr>
      </a:lvl4pPr>
      <a:lvl5pPr algn="ctr" rtl="0" eaLnBrk="1" fontAlgn="base" hangingPunct="1">
        <a:spcBef>
          <a:spcPct val="0"/>
        </a:spcBef>
        <a:spcAft>
          <a:spcPct val="0"/>
        </a:spcAft>
        <a:defRPr sz="3000">
          <a:solidFill>
            <a:schemeClr val="tx1"/>
          </a:solidFill>
          <a:latin typeface="Calibri" charset="0"/>
          <a:ea typeface="MS PGothic"/>
          <a:cs typeface="MS PGothic"/>
        </a:defRPr>
      </a:lvl5pPr>
      <a:lvl6pPr marL="457200" algn="ctr" rtl="0" eaLnBrk="1" fontAlgn="base" hangingPunct="1">
        <a:spcBef>
          <a:spcPct val="0"/>
        </a:spcBef>
        <a:spcAft>
          <a:spcPct val="0"/>
        </a:spcAft>
        <a:defRPr sz="3000">
          <a:solidFill>
            <a:schemeClr val="tx1"/>
          </a:solidFill>
          <a:latin typeface="Calibri" charset="0"/>
          <a:ea typeface="ＭＳ Ｐゴシック" charset="-128"/>
        </a:defRPr>
      </a:lvl6pPr>
      <a:lvl7pPr marL="914400" algn="ctr" rtl="0" eaLnBrk="1" fontAlgn="base" hangingPunct="1">
        <a:spcBef>
          <a:spcPct val="0"/>
        </a:spcBef>
        <a:spcAft>
          <a:spcPct val="0"/>
        </a:spcAft>
        <a:defRPr sz="3000">
          <a:solidFill>
            <a:schemeClr val="tx1"/>
          </a:solidFill>
          <a:latin typeface="Calibri" charset="0"/>
          <a:ea typeface="ＭＳ Ｐゴシック" charset="-128"/>
        </a:defRPr>
      </a:lvl7pPr>
      <a:lvl8pPr marL="1371600" algn="ctr" rtl="0" eaLnBrk="1" fontAlgn="base" hangingPunct="1">
        <a:spcBef>
          <a:spcPct val="0"/>
        </a:spcBef>
        <a:spcAft>
          <a:spcPct val="0"/>
        </a:spcAft>
        <a:defRPr sz="3000">
          <a:solidFill>
            <a:schemeClr val="tx1"/>
          </a:solidFill>
          <a:latin typeface="Calibri" charset="0"/>
          <a:ea typeface="ＭＳ Ｐゴシック" charset="-128"/>
        </a:defRPr>
      </a:lvl8pPr>
      <a:lvl9pPr marL="1828800" algn="ctr" rtl="0" eaLnBrk="1" fontAlgn="base" hangingPunct="1">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1" fontAlgn="base" hangingPunct="1">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1" fontAlgn="base" hangingPunct="1">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1" fontAlgn="base" hangingPunct="1">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1" fontAlgn="base" hangingPunct="1">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372E63F-589D-8B42-99FD-D388EA2B82A4}"/>
              </a:ext>
            </a:extLst>
          </p:cNvPr>
          <p:cNvSpPr txBox="1"/>
          <p:nvPr/>
        </p:nvSpPr>
        <p:spPr>
          <a:xfrm>
            <a:off x="762000" y="533400"/>
            <a:ext cx="7924800" cy="8401017"/>
          </a:xfrm>
          <a:prstGeom prst="rect">
            <a:avLst/>
          </a:prstGeom>
        </p:spPr>
        <p:txBody>
          <a:bodyPr vert="horz" wrap="square" lIns="0" tIns="52069" rIns="0" bIns="0" rtlCol="0">
            <a:spAutoFit/>
          </a:bodyPr>
          <a:lstStyle/>
          <a:p>
            <a:pPr marR="8255" algn="ctr">
              <a:lnSpc>
                <a:spcPct val="100000"/>
              </a:lnSpc>
              <a:spcBef>
                <a:spcPts val="330"/>
              </a:spcBef>
            </a:pPr>
            <a:endParaRPr lang="en-IN" sz="3200" b="1" dirty="0">
              <a:latin typeface="Times New Roman" panose="02020603050405020304" pitchFamily="18" charset="0"/>
              <a:cs typeface="Times New Roman" panose="02020603050405020304" pitchFamily="18" charset="0"/>
            </a:endParaRPr>
          </a:p>
          <a:p>
            <a:pPr algn="ctr">
              <a:lnSpc>
                <a:spcPct val="100000"/>
              </a:lnSpc>
              <a:spcBef>
                <a:spcPts val="400"/>
              </a:spcBef>
            </a:pPr>
            <a:r>
              <a:rPr lang="en-IN" sz="1600"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16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000" i="1" spc="-1" dirty="0" err="1">
                <a:latin typeface="Times New Roman" panose="02020603050405020304" pitchFamily="18" charset="0"/>
                <a:ea typeface="Calibri" panose="020F0502020204030204" pitchFamily="34" charset="0"/>
                <a:cs typeface="Times New Roman" panose="02020603050405020304" pitchFamily="18" charset="0"/>
              </a:rPr>
              <a:t>JamReviewer</a:t>
            </a:r>
            <a:endParaRPr lang="en-US" sz="1600" i="1" spc="-1"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br>
              <a:rPr lang="en-US" sz="1600" spc="-1" dirty="0">
                <a:solidFill>
                  <a:srgbClr val="000000"/>
                </a:solidFill>
                <a:latin typeface="Times New Roman" panose="02020603050405020304" pitchFamily="18" charset="0"/>
                <a:ea typeface="MS PGothic"/>
                <a:cs typeface="Times New Roman" panose="02020603050405020304" pitchFamily="18" charset="0"/>
              </a:rPr>
            </a:br>
            <a:endParaRPr lang="en-US" sz="1600" spc="-1" dirty="0">
              <a:solidFill>
                <a:srgbClr val="000000"/>
              </a:solidFill>
              <a:latin typeface="Times New Roman" panose="02020603050405020304" pitchFamily="18" charset="0"/>
              <a:ea typeface="MS PGothic"/>
              <a:cs typeface="Times New Roman" panose="02020603050405020304" pitchFamily="18" charset="0"/>
            </a:endParaRPr>
          </a:p>
          <a:p>
            <a:pPr>
              <a:lnSpc>
                <a:spcPct val="100000"/>
              </a:lnSpc>
              <a:spcBef>
                <a:spcPts val="400"/>
              </a:spcBef>
            </a:pPr>
            <a:endParaRPr lang="en-US" sz="1600" spc="-1" dirty="0">
              <a:solidFill>
                <a:srgbClr val="000000"/>
              </a:solidFill>
              <a:latin typeface="Times New Roman" panose="02020603050405020304" pitchFamily="18" charset="0"/>
              <a:ea typeface="MS PGothic"/>
              <a:cs typeface="Times New Roman" panose="02020603050405020304" pitchFamily="18" charset="0"/>
            </a:endParaRPr>
          </a:p>
          <a:p>
            <a:pPr>
              <a:lnSpc>
                <a:spcPct val="100000"/>
              </a:lnSpc>
              <a:spcBef>
                <a:spcPts val="400"/>
              </a:spcBef>
            </a:pPr>
            <a:endParaRPr lang="en-US" sz="1600" spc="-1" dirty="0">
              <a:solidFill>
                <a:srgbClr val="000000"/>
              </a:solidFill>
              <a:latin typeface="Times New Roman" panose="02020603050405020304" pitchFamily="18" charset="0"/>
              <a:ea typeface="MS PGothic"/>
              <a:cs typeface="Times New Roman" panose="02020603050405020304" pitchFamily="18" charset="0"/>
            </a:endParaRPr>
          </a:p>
          <a:p>
            <a:pPr>
              <a:lnSpc>
                <a:spcPct val="100000"/>
              </a:lnSpc>
              <a:spcBef>
                <a:spcPts val="400"/>
              </a:spcBef>
            </a:pPr>
            <a:r>
              <a:rPr lang="en-US" sz="1600" spc="-1" dirty="0">
                <a:solidFill>
                  <a:srgbClr val="000000"/>
                </a:solidFill>
                <a:latin typeface="Times New Roman" panose="02020603050405020304" pitchFamily="18" charset="0"/>
                <a:ea typeface="MS PGothic"/>
                <a:cs typeface="Times New Roman" panose="02020603050405020304" pitchFamily="18" charset="0"/>
              </a:rPr>
              <a:t>Vipin Attri                  2211985056                                                           Supervised by</a:t>
            </a:r>
          </a:p>
          <a:p>
            <a:pPr>
              <a:lnSpc>
                <a:spcPct val="100000"/>
              </a:lnSpc>
              <a:spcBef>
                <a:spcPts val="400"/>
              </a:spcBef>
            </a:pPr>
            <a:r>
              <a:rPr lang="en-US" sz="1600" spc="-1" dirty="0">
                <a:solidFill>
                  <a:srgbClr val="000000"/>
                </a:solidFill>
                <a:latin typeface="Times New Roman" panose="02020603050405020304" pitchFamily="18" charset="0"/>
                <a:ea typeface="MS PGothic"/>
                <a:cs typeface="Times New Roman" panose="02020603050405020304" pitchFamily="18" charset="0"/>
              </a:rPr>
              <a:t>Divyansh Sharma       2211985019                                                         Dr. Rajat </a:t>
            </a:r>
            <a:r>
              <a:rPr lang="en-US" sz="1600" spc="-1" dirty="0" err="1">
                <a:solidFill>
                  <a:srgbClr val="000000"/>
                </a:solidFill>
                <a:latin typeface="Times New Roman" panose="02020603050405020304" pitchFamily="18" charset="0"/>
                <a:ea typeface="MS PGothic"/>
                <a:cs typeface="Times New Roman" panose="02020603050405020304" pitchFamily="18" charset="0"/>
              </a:rPr>
              <a:t>Takkar</a:t>
            </a:r>
            <a:endParaRPr lang="en-US" sz="1600" spc="-1" dirty="0">
              <a:solidFill>
                <a:srgbClr val="000000"/>
              </a:solidFill>
              <a:latin typeface="Times New Roman" panose="02020603050405020304" pitchFamily="18" charset="0"/>
              <a:ea typeface="MS PGothic"/>
              <a:cs typeface="Times New Roman" panose="02020603050405020304" pitchFamily="18" charset="0"/>
            </a:endParaRPr>
          </a:p>
          <a:p>
            <a:pPr>
              <a:lnSpc>
                <a:spcPct val="100000"/>
              </a:lnSpc>
              <a:spcBef>
                <a:spcPts val="400"/>
              </a:spcBef>
            </a:pPr>
            <a:r>
              <a:rPr lang="en-US" sz="1600" spc="-1" dirty="0">
                <a:solidFill>
                  <a:srgbClr val="000000"/>
                </a:solidFill>
                <a:latin typeface="Times New Roman" panose="02020603050405020304" pitchFamily="18" charset="0"/>
                <a:ea typeface="MS PGothic"/>
                <a:cs typeface="Times New Roman" panose="02020603050405020304" pitchFamily="18" charset="0"/>
              </a:rPr>
              <a:t>Akash                          2211985002</a:t>
            </a:r>
          </a:p>
          <a:p>
            <a:pPr>
              <a:lnSpc>
                <a:spcPct val="100000"/>
              </a:lnSpc>
              <a:spcBef>
                <a:spcPts val="400"/>
              </a:spcBef>
            </a:pPr>
            <a:endParaRPr lang="en-US" sz="1600" spc="-1" dirty="0">
              <a:solidFill>
                <a:srgbClr val="000000"/>
              </a:solidFill>
              <a:latin typeface="Times New Roman" panose="02020603050405020304" pitchFamily="18" charset="0"/>
              <a:ea typeface="MS PGothic"/>
              <a:cs typeface="Times New Roman" panose="02020603050405020304" pitchFamily="18" charset="0"/>
            </a:endParaRPr>
          </a:p>
          <a:p>
            <a:pPr>
              <a:lnSpc>
                <a:spcPct val="100000"/>
              </a:lnSpc>
              <a:spcBef>
                <a:spcPts val="400"/>
              </a:spcBef>
            </a:pPr>
            <a:endParaRPr lang="en-US" sz="16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600"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16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pc="-1" dirty="0">
                <a:latin typeface="Times New Roman" panose="02020603050405020304" pitchFamily="18" charset="0"/>
                <a:ea typeface="MS PGothic"/>
                <a:cs typeface="Times New Roman" panose="02020603050405020304" pitchFamily="18" charset="0"/>
              </a:rPr>
              <a:t>Department of Computer Science and Engineering, </a:t>
            </a:r>
          </a:p>
          <a:p>
            <a:pPr algn="ctr">
              <a:lnSpc>
                <a:spcPct val="100000"/>
              </a:lnSpc>
              <a:spcBef>
                <a:spcPts val="400"/>
              </a:spcBef>
            </a:pPr>
            <a:r>
              <a:rPr lang="en-US" spc="-1" dirty="0">
                <a:latin typeface="Times New Roman" panose="02020603050405020304" pitchFamily="18" charset="0"/>
                <a:ea typeface="MS PGothic"/>
                <a:cs typeface="Times New Roman" panose="02020603050405020304" pitchFamily="18" charset="0"/>
              </a:rPr>
              <a:t>Chitkara University, Punjab</a:t>
            </a:r>
          </a:p>
          <a:p>
            <a:pPr marR="8255" algn="ctr">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sz="1600"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b="1" dirty="0">
              <a:latin typeface="Times New Roman" panose="02020603050405020304" pitchFamily="18" charset="0"/>
              <a:cs typeface="Times New Roman" panose="02020603050405020304" pitchFamily="18" charset="0"/>
            </a:endParaRPr>
          </a:p>
          <a:p>
            <a:pPr marR="8255">
              <a:lnSpc>
                <a:spcPct val="100000"/>
              </a:lnSpc>
              <a:spcBef>
                <a:spcPts val="330"/>
              </a:spcBef>
            </a:pPr>
            <a:endParaRPr lang="en-IN" b="1" dirty="0">
              <a:latin typeface="Times New Roman" panose="02020603050405020304" pitchFamily="18" charset="0"/>
              <a:cs typeface="Times New Roman" panose="02020603050405020304" pitchFamily="18" charset="0"/>
            </a:endParaRPr>
          </a:p>
          <a:p>
            <a:pPr marR="8255">
              <a:spcBef>
                <a:spcPts val="330"/>
              </a:spcBef>
            </a:pPr>
            <a:endParaRPr lang="en-IN" dirty="0">
              <a:latin typeface="Times New Roman" panose="02020603050405020304" pitchFamily="18" charset="0"/>
              <a:cs typeface="Times New Roman" panose="02020603050405020304" pitchFamily="18" charset="0"/>
            </a:endParaRPr>
          </a:p>
          <a:p>
            <a:pPr marL="514350" marR="8255" indent="-514350">
              <a:spcBef>
                <a:spcPts val="330"/>
              </a:spcBef>
              <a:buFontTx/>
              <a:buAutoNum type="arabicPeriod"/>
            </a:pPr>
            <a:endParaRPr lang="en-IN" dirty="0">
              <a:latin typeface="Times New Roman" panose="02020603050405020304" pitchFamily="18" charset="0"/>
              <a:cs typeface="Times New Roman" panose="02020603050405020304" pitchFamily="18" charset="0"/>
            </a:endParaRPr>
          </a:p>
          <a:p>
            <a:pPr marL="514350" marR="8255" indent="-514350">
              <a:lnSpc>
                <a:spcPct val="100000"/>
              </a:lnSpc>
              <a:spcBef>
                <a:spcPts val="330"/>
              </a:spcBef>
              <a:buAutoNum type="arabicPeriod"/>
            </a:pPr>
            <a:endParaRPr lang="en-IN" dirty="0">
              <a:latin typeface="Times New Roman" panose="02020603050405020304" pitchFamily="18" charset="0"/>
              <a:cs typeface="Times New Roman" panose="02020603050405020304" pitchFamily="18" charset="0"/>
            </a:endParaRPr>
          </a:p>
        </p:txBody>
      </p:sp>
      <p:sp>
        <p:nvSpPr>
          <p:cNvPr id="6" name="object 4">
            <a:extLst>
              <a:ext uri="{FF2B5EF4-FFF2-40B4-BE49-F238E27FC236}">
                <a16:creationId xmlns:a16="http://schemas.microsoft.com/office/drawing/2014/main" id="{E4690CBE-8CEE-F5EE-CA89-DCBB31B742DE}"/>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630"/>
              </a:lnSpc>
            </a:pPr>
            <a:fld id="{81D60167-4931-47E6-BA6A-407CBD079E47}" type="slidenum">
              <a:rPr dirty="0"/>
              <a:pPr marL="38100">
                <a:lnSpc>
                  <a:spcPts val="1630"/>
                </a:lnSpc>
              </a:pPr>
              <a:t>1</a:t>
            </a:fld>
            <a:endParaRPr dirty="0"/>
          </a:p>
        </p:txBody>
      </p:sp>
    </p:spTree>
    <p:extLst>
      <p:ext uri="{BB962C8B-B14F-4D97-AF65-F5344CB8AC3E}">
        <p14:creationId xmlns:p14="http://schemas.microsoft.com/office/powerpoint/2010/main" val="1366104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53694C-5B27-44DC-A262-63CAFFD8894E}"/>
              </a:ext>
            </a:extLst>
          </p:cNvPr>
          <p:cNvSpPr>
            <a:spLocks noGrp="1"/>
          </p:cNvSpPr>
          <p:nvPr>
            <p:ph type="title"/>
          </p:nvPr>
        </p:nvSpPr>
        <p:spPr>
          <a:xfrm>
            <a:off x="4181231" y="1219200"/>
            <a:ext cx="609601" cy="304800"/>
          </a:xfrm>
        </p:spPr>
        <p:txBody>
          <a:bodyPr/>
          <a:lstStyle/>
          <a:p>
            <a:r>
              <a:rPr lang="en-US" dirty="0"/>
              <a:t>.</a:t>
            </a:r>
          </a:p>
        </p:txBody>
      </p:sp>
      <p:sp>
        <p:nvSpPr>
          <p:cNvPr id="8" name="TextBox 7">
            <a:extLst>
              <a:ext uri="{FF2B5EF4-FFF2-40B4-BE49-F238E27FC236}">
                <a16:creationId xmlns:a16="http://schemas.microsoft.com/office/drawing/2014/main" id="{A593F81C-9ED1-4E55-B503-352D486A505A}"/>
              </a:ext>
            </a:extLst>
          </p:cNvPr>
          <p:cNvSpPr txBox="1"/>
          <p:nvPr/>
        </p:nvSpPr>
        <p:spPr>
          <a:xfrm>
            <a:off x="4181230" y="1524000"/>
            <a:ext cx="476199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Welcome to </a:t>
            </a:r>
            <a:r>
              <a:rPr lang="en-US" sz="3200" b="1" dirty="0" err="1">
                <a:latin typeface="Times New Roman" panose="02020603050405020304" pitchFamily="18" charset="0"/>
                <a:cs typeface="Times New Roman" panose="02020603050405020304" pitchFamily="18" charset="0"/>
              </a:rPr>
              <a:t>JamReviewer</a:t>
            </a:r>
            <a:endParaRPr lang="en-US" sz="32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0964D682-8CB9-49A0-A7CD-EB619E67A79D}"/>
              </a:ext>
            </a:extLst>
          </p:cNvPr>
          <p:cNvSpPr txBox="1"/>
          <p:nvPr/>
        </p:nvSpPr>
        <p:spPr>
          <a:xfrm>
            <a:off x="4181231" y="2225034"/>
            <a:ext cx="4953000" cy="4401205"/>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Introducing </a:t>
            </a:r>
            <a:r>
              <a:rPr lang="en-US" sz="2000" b="1" dirty="0" err="1">
                <a:latin typeface="Times New Roman" panose="02020603050405020304" pitchFamily="18" charset="0"/>
                <a:cs typeface="Times New Roman" panose="02020603050405020304" pitchFamily="18" charset="0"/>
              </a:rPr>
              <a:t>JamReviewer</a:t>
            </a:r>
            <a:r>
              <a:rPr lang="en-US" sz="2000" dirty="0">
                <a:latin typeface="Times New Roman" panose="02020603050405020304" pitchFamily="18" charset="0"/>
                <a:cs typeface="Times New Roman" panose="02020603050405020304" pitchFamily="18" charset="0"/>
              </a:rPr>
              <a:t>: </a:t>
            </a:r>
            <a:r>
              <a:rPr lang="en-US" sz="2000" dirty="0" err="1"/>
              <a:t>JamReviewer</a:t>
            </a:r>
            <a:r>
              <a:rPr lang="en-US" sz="2000" dirty="0"/>
              <a:t> is a web-based music review platform designed for emerging and independent artists to share their songs and receive honest audience feedback before official release. The system allows users to stream music, rate tracks, and post reviews, while creators can analyze audience response through analytics. It promotes underground talent discovery, constructive criticism, and informed music publishing decisions.</a:t>
            </a:r>
          </a:p>
          <a:p>
            <a:br>
              <a:rPr lang="en-US" sz="2000" dirty="0"/>
            </a:br>
            <a:endParaRPr lang="en-US" sz="2000" dirty="0"/>
          </a:p>
        </p:txBody>
      </p:sp>
      <p:pic>
        <p:nvPicPr>
          <p:cNvPr id="6" name="Content Placeholder 5">
            <a:extLst>
              <a:ext uri="{FF2B5EF4-FFF2-40B4-BE49-F238E27FC236}">
                <a16:creationId xmlns:a16="http://schemas.microsoft.com/office/drawing/2014/main" id="{6B2C8316-A777-A67B-6725-32ECE665E6B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bwMode="auto">
          <a:xfrm>
            <a:off x="381000" y="1143000"/>
            <a:ext cx="3429000" cy="4800600"/>
          </a:xfrm>
          <a:prstGeom prst="rect">
            <a:avLst/>
          </a:prstGeom>
          <a:noFill/>
          <a:ln w="9525">
            <a:noFill/>
            <a:miter lim="800000"/>
            <a:headEnd/>
            <a:tailEnd/>
          </a:ln>
        </p:spPr>
      </p:pic>
    </p:spTree>
    <p:extLst>
      <p:ext uri="{BB962C8B-B14F-4D97-AF65-F5344CB8AC3E}">
        <p14:creationId xmlns:p14="http://schemas.microsoft.com/office/powerpoint/2010/main" val="1458131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53694C-5B27-44DC-A262-63CAFFD8894E}"/>
              </a:ext>
            </a:extLst>
          </p:cNvPr>
          <p:cNvSpPr>
            <a:spLocks noGrp="1"/>
          </p:cNvSpPr>
          <p:nvPr>
            <p:ph type="title"/>
          </p:nvPr>
        </p:nvSpPr>
        <p:spPr>
          <a:xfrm>
            <a:off x="6613768" y="228600"/>
            <a:ext cx="609601" cy="304800"/>
          </a:xfrm>
        </p:spPr>
        <p:txBody>
          <a:bodyPr/>
          <a:lstStyle/>
          <a:p>
            <a:r>
              <a:rPr lang="en-US" dirty="0"/>
              <a:t>.</a:t>
            </a:r>
          </a:p>
        </p:txBody>
      </p:sp>
      <p:sp>
        <p:nvSpPr>
          <p:cNvPr id="4" name="TextBox 3">
            <a:extLst>
              <a:ext uri="{FF2B5EF4-FFF2-40B4-BE49-F238E27FC236}">
                <a16:creationId xmlns:a16="http://schemas.microsoft.com/office/drawing/2014/main" id="{DA7385B9-D20A-4721-813D-1EDC6708B8C8}"/>
              </a:ext>
            </a:extLst>
          </p:cNvPr>
          <p:cNvSpPr txBox="1"/>
          <p:nvPr/>
        </p:nvSpPr>
        <p:spPr>
          <a:xfrm>
            <a:off x="228600" y="1828800"/>
            <a:ext cx="63246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The Problem: Why </a:t>
            </a:r>
            <a:r>
              <a:rPr lang="en-US" sz="3200" b="1" dirty="0" err="1">
                <a:latin typeface="Times New Roman" panose="02020603050405020304" pitchFamily="18" charset="0"/>
                <a:cs typeface="Times New Roman" panose="02020603050405020304" pitchFamily="18" charset="0"/>
              </a:rPr>
              <a:t>JamReviewer</a:t>
            </a:r>
            <a:r>
              <a:rPr lang="en-US" sz="3200" b="1" dirty="0">
                <a:latin typeface="Times New Roman" panose="02020603050405020304" pitchFamily="18" charset="0"/>
                <a:cs typeface="Times New Roman" panose="02020603050405020304" pitchFamily="18" charset="0"/>
              </a:rPr>
              <a:t>?</a:t>
            </a:r>
          </a:p>
        </p:txBody>
      </p:sp>
      <p:sp>
        <p:nvSpPr>
          <p:cNvPr id="6" name="TextBox 5">
            <a:extLst>
              <a:ext uri="{FF2B5EF4-FFF2-40B4-BE49-F238E27FC236}">
                <a16:creationId xmlns:a16="http://schemas.microsoft.com/office/drawing/2014/main" id="{914D83B1-C30B-44AA-A216-E4FB6426A4AD}"/>
              </a:ext>
            </a:extLst>
          </p:cNvPr>
          <p:cNvSpPr txBox="1"/>
          <p:nvPr/>
        </p:nvSpPr>
        <p:spPr>
          <a:xfrm>
            <a:off x="377092" y="3048000"/>
            <a:ext cx="4381502" cy="2985433"/>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Lack of honest Pre-release feedback</a:t>
            </a:r>
          </a:p>
          <a:p>
            <a:r>
              <a:rPr lang="en-US" sz="2000" dirty="0"/>
              <a:t>Independent and emerging artists often release music without knowing how audiences will react. Existing platforms mainly focus on publishing rather than constructive feedback, making it difficult for creators to improve their work before launch.</a:t>
            </a:r>
            <a:endParaRPr lang="en-US"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73D8589-0406-483A-80D9-8DB02097EBD9}"/>
              </a:ext>
            </a:extLst>
          </p:cNvPr>
          <p:cNvSpPr txBox="1"/>
          <p:nvPr/>
        </p:nvSpPr>
        <p:spPr>
          <a:xfrm>
            <a:off x="5013568" y="3048000"/>
            <a:ext cx="3810000" cy="2985433"/>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Limited visibility of ground talent</a:t>
            </a:r>
          </a:p>
          <a:p>
            <a:r>
              <a:rPr lang="en-US" sz="2000" dirty="0"/>
              <a:t>Small creators struggle to gain exposure because major music platforms prioritize already popular artists. As a result, many talented musicians fail to reach listeners, receive recognition.</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4868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53694C-5B27-44DC-A262-63CAFFD8894E}"/>
              </a:ext>
            </a:extLst>
          </p:cNvPr>
          <p:cNvSpPr>
            <a:spLocks noGrp="1"/>
          </p:cNvSpPr>
          <p:nvPr>
            <p:ph type="title"/>
          </p:nvPr>
        </p:nvSpPr>
        <p:spPr>
          <a:xfrm>
            <a:off x="6408618" y="228600"/>
            <a:ext cx="609601" cy="304800"/>
          </a:xfrm>
        </p:spPr>
        <p:txBody>
          <a:bodyPr/>
          <a:lstStyle/>
          <a:p>
            <a:r>
              <a:rPr lang="en-US" dirty="0"/>
              <a:t>.</a:t>
            </a:r>
          </a:p>
        </p:txBody>
      </p:sp>
      <p:sp>
        <p:nvSpPr>
          <p:cNvPr id="3" name="Content Placeholder 2">
            <a:extLst>
              <a:ext uri="{FF2B5EF4-FFF2-40B4-BE49-F238E27FC236}">
                <a16:creationId xmlns:a16="http://schemas.microsoft.com/office/drawing/2014/main" id="{52B7A6E8-745D-4A41-B7D9-9D8C9191B41B}"/>
              </a:ext>
            </a:extLst>
          </p:cNvPr>
          <p:cNvSpPr>
            <a:spLocks noGrp="1"/>
          </p:cNvSpPr>
          <p:nvPr>
            <p:ph idx="1"/>
          </p:nvPr>
        </p:nvSpPr>
        <p:spPr>
          <a:xfrm>
            <a:off x="304797" y="1449406"/>
            <a:ext cx="4572000" cy="1143000"/>
          </a:xfrm>
        </p:spPr>
        <p:txBody>
          <a:bodyPr/>
          <a:lstStyle/>
          <a:p>
            <a:pPr marL="0" indent="0">
              <a:buNone/>
            </a:pPr>
            <a:r>
              <a:rPr lang="en-US" b="1" dirty="0">
                <a:latin typeface="Times New Roman" panose="02020603050405020304" pitchFamily="18" charset="0"/>
                <a:cs typeface="Times New Roman" panose="02020603050405020304" pitchFamily="18" charset="0"/>
              </a:rPr>
              <a:t>Our Solution: Centralized Platform</a:t>
            </a:r>
          </a:p>
        </p:txBody>
      </p:sp>
      <p:sp>
        <p:nvSpPr>
          <p:cNvPr id="4" name="TextBox 3">
            <a:extLst>
              <a:ext uri="{FF2B5EF4-FFF2-40B4-BE49-F238E27FC236}">
                <a16:creationId xmlns:a16="http://schemas.microsoft.com/office/drawing/2014/main" id="{5919A2CD-D010-4E32-BF12-835675577090}"/>
              </a:ext>
            </a:extLst>
          </p:cNvPr>
          <p:cNvSpPr txBox="1"/>
          <p:nvPr/>
        </p:nvSpPr>
        <p:spPr>
          <a:xfrm>
            <a:off x="304797" y="2939097"/>
            <a:ext cx="304800" cy="369332"/>
          </a:xfrm>
          <a:prstGeom prst="rect">
            <a:avLst/>
          </a:prstGeom>
          <a:solidFill>
            <a:schemeClr val="tx1"/>
          </a:solidFill>
        </p:spPr>
        <p:txBody>
          <a:bodyPr wrap="square" rtlCol="0">
            <a:spAutoFit/>
          </a:bodyPr>
          <a:lstStyle/>
          <a:p>
            <a:r>
              <a:rPr lang="en-US" dirty="0">
                <a:solidFill>
                  <a:schemeClr val="bg1"/>
                </a:solidFill>
              </a:rPr>
              <a:t>1</a:t>
            </a:r>
            <a:endParaRPr lang="en-US" dirty="0"/>
          </a:p>
        </p:txBody>
      </p:sp>
      <p:sp>
        <p:nvSpPr>
          <p:cNvPr id="8" name="TextBox 7">
            <a:extLst>
              <a:ext uri="{FF2B5EF4-FFF2-40B4-BE49-F238E27FC236}">
                <a16:creationId xmlns:a16="http://schemas.microsoft.com/office/drawing/2014/main" id="{A844D185-63BE-4F50-B6ED-5C15716BAE95}"/>
              </a:ext>
            </a:extLst>
          </p:cNvPr>
          <p:cNvSpPr txBox="1"/>
          <p:nvPr/>
        </p:nvSpPr>
        <p:spPr>
          <a:xfrm>
            <a:off x="708286" y="3607571"/>
            <a:ext cx="4131833" cy="1200329"/>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JamReviewer</a:t>
            </a:r>
            <a:r>
              <a:rPr lang="en-US" dirty="0">
                <a:latin typeface="Times New Roman" panose="02020603050405020304" pitchFamily="18" charset="0"/>
                <a:cs typeface="Times New Roman" panose="02020603050405020304" pitchFamily="18" charset="0"/>
              </a:rPr>
              <a:t> provides a single platform where artists can upload songs, receive reviews, and analyze audience reactions before official release.</a:t>
            </a:r>
          </a:p>
        </p:txBody>
      </p:sp>
      <p:sp>
        <p:nvSpPr>
          <p:cNvPr id="9" name="TextBox 8">
            <a:extLst>
              <a:ext uri="{FF2B5EF4-FFF2-40B4-BE49-F238E27FC236}">
                <a16:creationId xmlns:a16="http://schemas.microsoft.com/office/drawing/2014/main" id="{6F63F023-1612-4A4A-A820-7839D1C11433}"/>
              </a:ext>
            </a:extLst>
          </p:cNvPr>
          <p:cNvSpPr txBox="1"/>
          <p:nvPr/>
        </p:nvSpPr>
        <p:spPr>
          <a:xfrm>
            <a:off x="4840120" y="2939097"/>
            <a:ext cx="304800" cy="369332"/>
          </a:xfrm>
          <a:prstGeom prst="rect">
            <a:avLst/>
          </a:prstGeom>
          <a:solidFill>
            <a:schemeClr val="tx1"/>
          </a:solidFill>
        </p:spPr>
        <p:txBody>
          <a:bodyPr wrap="square" rtlCol="0">
            <a:spAutoFit/>
          </a:bodyPr>
          <a:lstStyle/>
          <a:p>
            <a:r>
              <a:rPr lang="en-US" dirty="0">
                <a:solidFill>
                  <a:schemeClr val="bg1"/>
                </a:solidFill>
              </a:rPr>
              <a:t>2</a:t>
            </a:r>
            <a:endParaRPr lang="en-US" dirty="0"/>
          </a:p>
        </p:txBody>
      </p:sp>
      <p:sp>
        <p:nvSpPr>
          <p:cNvPr id="10" name="TextBox 9">
            <a:extLst>
              <a:ext uri="{FF2B5EF4-FFF2-40B4-BE49-F238E27FC236}">
                <a16:creationId xmlns:a16="http://schemas.microsoft.com/office/drawing/2014/main" id="{38504560-27CF-4DE5-B740-881535C56A51}"/>
              </a:ext>
            </a:extLst>
          </p:cNvPr>
          <p:cNvSpPr txBox="1"/>
          <p:nvPr/>
        </p:nvSpPr>
        <p:spPr>
          <a:xfrm>
            <a:off x="304797" y="4953000"/>
            <a:ext cx="304800" cy="369332"/>
          </a:xfrm>
          <a:prstGeom prst="rect">
            <a:avLst/>
          </a:prstGeom>
          <a:solidFill>
            <a:schemeClr val="tx1"/>
          </a:solidFill>
        </p:spPr>
        <p:txBody>
          <a:bodyPr wrap="square" rtlCol="0">
            <a:spAutoFit/>
          </a:bodyPr>
          <a:lstStyle/>
          <a:p>
            <a:r>
              <a:rPr lang="en-US" dirty="0">
                <a:solidFill>
                  <a:schemeClr val="bg1"/>
                </a:solidFill>
              </a:rPr>
              <a:t>3</a:t>
            </a:r>
            <a:endParaRPr lang="en-US" dirty="0"/>
          </a:p>
        </p:txBody>
      </p:sp>
      <p:sp>
        <p:nvSpPr>
          <p:cNvPr id="2" name="TextBox 1">
            <a:extLst>
              <a:ext uri="{FF2B5EF4-FFF2-40B4-BE49-F238E27FC236}">
                <a16:creationId xmlns:a16="http://schemas.microsoft.com/office/drawing/2014/main" id="{E35405C9-BB57-274E-7CE6-FDEDEB8BEF2F}"/>
              </a:ext>
            </a:extLst>
          </p:cNvPr>
          <p:cNvSpPr txBox="1"/>
          <p:nvPr/>
        </p:nvSpPr>
        <p:spPr>
          <a:xfrm>
            <a:off x="5232888" y="3363928"/>
            <a:ext cx="2737338" cy="1815882"/>
          </a:xfrm>
          <a:prstGeom prst="rect">
            <a:avLst/>
          </a:prstGeom>
          <a:noFill/>
        </p:spPr>
        <p:txBody>
          <a:bodyPr wrap="square" rtlCol="0">
            <a:spAutoFit/>
          </a:bodyPr>
          <a:lstStyle/>
          <a:p>
            <a:br>
              <a:rPr lang="en-US" sz="20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Listeners can rate tracks, share honest reviews, and help creators improve their music through constructive feedback</a:t>
            </a:r>
            <a:r>
              <a:rPr lang="en-US" sz="2000" dirty="0"/>
              <a:t>.</a:t>
            </a:r>
            <a:endParaRPr lang="en-IN" sz="19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A298FBE-784F-785E-F776-EE5A55D038A4}"/>
              </a:ext>
            </a:extLst>
          </p:cNvPr>
          <p:cNvSpPr txBox="1"/>
          <p:nvPr/>
        </p:nvSpPr>
        <p:spPr>
          <a:xfrm>
            <a:off x="647696" y="5029200"/>
            <a:ext cx="3924304" cy="1846659"/>
          </a:xfrm>
          <a:prstGeom prst="rect">
            <a:avLst/>
          </a:prstGeom>
          <a:noFill/>
        </p:spPr>
        <p:txBody>
          <a:bodyPr wrap="square" rtlCol="0">
            <a:spAutoFit/>
          </a:bodyPr>
          <a:lstStyle/>
          <a:p>
            <a:br>
              <a:rPr lang="en-US" sz="20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platform offers engagement insights, ratings, and listener activity analytics to help artists make informed release decisions.</a:t>
            </a:r>
            <a:br>
              <a:rPr lang="en-US"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77E8EB6-1BF1-234D-3FEA-5D9D1DDFDFEA}"/>
              </a:ext>
            </a:extLst>
          </p:cNvPr>
          <p:cNvSpPr txBox="1"/>
          <p:nvPr/>
        </p:nvSpPr>
        <p:spPr>
          <a:xfrm>
            <a:off x="721961" y="2860097"/>
            <a:ext cx="3746525" cy="1107996"/>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Centralized music Review platform  </a:t>
            </a:r>
          </a:p>
          <a:p>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C59E907-8FE9-194C-FADC-ECEBF6B2F200}"/>
              </a:ext>
            </a:extLst>
          </p:cNvPr>
          <p:cNvSpPr txBox="1"/>
          <p:nvPr/>
        </p:nvSpPr>
        <p:spPr>
          <a:xfrm>
            <a:off x="5232888" y="2860097"/>
            <a:ext cx="2933700" cy="1200329"/>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Community driven feedback system</a:t>
            </a:r>
          </a:p>
          <a:p>
            <a:endParaRPr lang="en-IN" sz="2400"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E159BC64-C067-3633-7920-483859BBB112}"/>
              </a:ext>
            </a:extLst>
          </p:cNvPr>
          <p:cNvSpPr txBox="1"/>
          <p:nvPr/>
        </p:nvSpPr>
        <p:spPr>
          <a:xfrm>
            <a:off x="647696" y="4919246"/>
            <a:ext cx="4076703" cy="83099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Artist growth and analytics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6322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53694C-5B27-44DC-A262-63CAFFD8894E}"/>
              </a:ext>
            </a:extLst>
          </p:cNvPr>
          <p:cNvSpPr>
            <a:spLocks noGrp="1"/>
          </p:cNvSpPr>
          <p:nvPr>
            <p:ph type="title"/>
          </p:nvPr>
        </p:nvSpPr>
        <p:spPr>
          <a:xfrm>
            <a:off x="6530732" y="203775"/>
            <a:ext cx="609601" cy="304800"/>
          </a:xfrm>
        </p:spPr>
        <p:txBody>
          <a:bodyPr/>
          <a:lstStyle/>
          <a:p>
            <a:r>
              <a:rPr lang="en-US" dirty="0"/>
              <a:t>.</a:t>
            </a:r>
          </a:p>
        </p:txBody>
      </p:sp>
      <p:sp>
        <p:nvSpPr>
          <p:cNvPr id="4" name="TextBox 3">
            <a:extLst>
              <a:ext uri="{FF2B5EF4-FFF2-40B4-BE49-F238E27FC236}">
                <a16:creationId xmlns:a16="http://schemas.microsoft.com/office/drawing/2014/main" id="{DA7385B9-D20A-4721-813D-1EDC6708B8C8}"/>
              </a:ext>
            </a:extLst>
          </p:cNvPr>
          <p:cNvSpPr txBox="1"/>
          <p:nvPr/>
        </p:nvSpPr>
        <p:spPr>
          <a:xfrm>
            <a:off x="553537" y="1116255"/>
            <a:ext cx="7467602"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Key Features of </a:t>
            </a:r>
            <a:r>
              <a:rPr lang="en-US" sz="3200" b="1" dirty="0" err="1">
                <a:latin typeface="Times New Roman" panose="02020603050405020304" pitchFamily="18" charset="0"/>
                <a:cs typeface="Times New Roman" panose="02020603050405020304" pitchFamily="18" charset="0"/>
              </a:rPr>
              <a:t>JamReviewer</a:t>
            </a:r>
            <a:endParaRPr lang="en-US" sz="32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914D83B1-C30B-44AA-A216-E4FB6426A4AD}"/>
              </a:ext>
            </a:extLst>
          </p:cNvPr>
          <p:cNvSpPr txBox="1"/>
          <p:nvPr/>
        </p:nvSpPr>
        <p:spPr>
          <a:xfrm>
            <a:off x="457200" y="2057400"/>
            <a:ext cx="8382662" cy="3785652"/>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Music upload and streaming</a:t>
            </a:r>
          </a:p>
          <a:p>
            <a:r>
              <a:rPr lang="en-US" sz="2000" dirty="0">
                <a:latin typeface="Times New Roman" panose="02020603050405020304" pitchFamily="18" charset="0"/>
                <a:cs typeface="Times New Roman" panose="02020603050405020304" pitchFamily="18" charset="0"/>
              </a:rPr>
              <a:t>Artists can upload and share their songs for listeners to stream directly on the platform.</a:t>
            </a:r>
          </a:p>
          <a:p>
            <a:br>
              <a:rPr lang="en-US" sz="1600"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and rating system</a:t>
            </a:r>
          </a:p>
          <a:p>
            <a:r>
              <a:rPr lang="en-US" sz="2000" dirty="0">
                <a:latin typeface="Times New Roman" panose="02020603050405020304" pitchFamily="18" charset="0"/>
                <a:cs typeface="Times New Roman" panose="02020603050405020304" pitchFamily="18" charset="0"/>
              </a:rPr>
              <a:t>Users can provide ratings and detailed feedback to help creators improve their music.</a:t>
            </a:r>
          </a:p>
          <a:p>
            <a:endParaRPr lang="en-US"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Analytics Dashboard</a:t>
            </a:r>
          </a:p>
          <a:p>
            <a:r>
              <a:rPr lang="en-US" sz="2000" dirty="0">
                <a:latin typeface="Times New Roman" panose="02020603050405020304" pitchFamily="18" charset="0"/>
                <a:cs typeface="Times New Roman" panose="02020603050405020304" pitchFamily="18" charset="0"/>
              </a:rPr>
              <a:t>Creators can track engagement, ratings, and audience response through performance analytics.</a:t>
            </a: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7080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C53694C-5B27-44DC-A262-63CAFFD8894E}"/>
              </a:ext>
            </a:extLst>
          </p:cNvPr>
          <p:cNvSpPr>
            <a:spLocks noGrp="1"/>
          </p:cNvSpPr>
          <p:nvPr>
            <p:ph type="title"/>
          </p:nvPr>
        </p:nvSpPr>
        <p:spPr>
          <a:xfrm>
            <a:off x="-1" y="-533400"/>
            <a:ext cx="609601" cy="304800"/>
          </a:xfrm>
        </p:spPr>
        <p:txBody>
          <a:bodyPr/>
          <a:lstStyle/>
          <a:p>
            <a:r>
              <a:rPr lang="en-US" dirty="0"/>
              <a:t>-</a:t>
            </a:r>
          </a:p>
        </p:txBody>
      </p:sp>
      <p:sp>
        <p:nvSpPr>
          <p:cNvPr id="3" name="Content Placeholder 2">
            <a:extLst>
              <a:ext uri="{FF2B5EF4-FFF2-40B4-BE49-F238E27FC236}">
                <a16:creationId xmlns:a16="http://schemas.microsoft.com/office/drawing/2014/main" id="{97EBFA85-ECFF-423A-8D7B-E21FF0B2D11D}"/>
              </a:ext>
            </a:extLst>
          </p:cNvPr>
          <p:cNvSpPr>
            <a:spLocks noGrp="1"/>
          </p:cNvSpPr>
          <p:nvPr>
            <p:ph idx="1"/>
          </p:nvPr>
        </p:nvSpPr>
        <p:spPr>
          <a:xfrm>
            <a:off x="59537" y="838200"/>
            <a:ext cx="9024925" cy="835015"/>
          </a:xfrm>
        </p:spPr>
        <p:txBody>
          <a:bodyPr/>
          <a:lstStyle/>
          <a:p>
            <a:pPr marL="0" indent="0" algn="ctr">
              <a:buNone/>
            </a:pPr>
            <a:r>
              <a:rPr lang="en-US" b="1" dirty="0"/>
              <a:t>WORKFLOW Diagram</a:t>
            </a:r>
          </a:p>
        </p:txBody>
      </p:sp>
      <p:pic>
        <p:nvPicPr>
          <p:cNvPr id="6" name="Picture 5">
            <a:extLst>
              <a:ext uri="{FF2B5EF4-FFF2-40B4-BE49-F238E27FC236}">
                <a16:creationId xmlns:a16="http://schemas.microsoft.com/office/drawing/2014/main" id="{F98AEFC0-9FD9-00A4-FF22-2AC5C2BA33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0600"/>
            <a:ext cx="9144000" cy="5943600"/>
          </a:xfrm>
          <a:prstGeom prst="rect">
            <a:avLst/>
          </a:prstGeom>
        </p:spPr>
      </p:pic>
    </p:spTree>
    <p:extLst>
      <p:ext uri="{BB962C8B-B14F-4D97-AF65-F5344CB8AC3E}">
        <p14:creationId xmlns:p14="http://schemas.microsoft.com/office/powerpoint/2010/main" val="3579909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12B35-F619-A6C4-D183-0905E3C84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CFDD44-8165-80F9-FC40-5F12B7DB6C7A}"/>
              </a:ext>
            </a:extLst>
          </p:cNvPr>
          <p:cNvSpPr>
            <a:spLocks noGrp="1"/>
          </p:cNvSpPr>
          <p:nvPr>
            <p:ph type="title"/>
          </p:nvPr>
        </p:nvSpPr>
        <p:spPr>
          <a:xfrm flipH="1">
            <a:off x="6324600" y="3361932"/>
            <a:ext cx="152400" cy="134135"/>
          </a:xfrm>
        </p:spPr>
        <p:txBody>
          <a:bodyPr/>
          <a:lstStyle/>
          <a:p>
            <a:r>
              <a:rPr lang="en-IN" sz="4400"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68B172C5-9053-2A04-F2AC-F10C8CBF3B56}"/>
              </a:ext>
            </a:extLst>
          </p:cNvPr>
          <p:cNvSpPr>
            <a:spLocks noGrp="1"/>
          </p:cNvSpPr>
          <p:nvPr>
            <p:ph idx="1"/>
          </p:nvPr>
        </p:nvSpPr>
        <p:spPr/>
        <p:txBody>
          <a:bodyPr/>
          <a:lstStyle/>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buNone/>
            </a:pPr>
            <a:endParaRPr lang="en-IN" sz="2800" dirty="0">
              <a:latin typeface="Times New Roman" panose="02020603050405020304" pitchFamily="18" charset="0"/>
              <a:cs typeface="Times New Roman" panose="02020603050405020304" pitchFamily="18" charset="0"/>
            </a:endParaRPr>
          </a:p>
          <a:p>
            <a:pPr marL="0" indent="0" algn="ctr">
              <a:buNone/>
            </a:pPr>
            <a:r>
              <a:rPr lang="en-IN" sz="66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959194150"/>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9AE925D5-DA43-4DD1-B6B6-8B467D16728C}" vid="{3EE72552-1DD1-4F59-AD60-F0ECC5712F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929</TotalTime>
  <Words>348</Words>
  <Application>Microsoft Office PowerPoint</Application>
  <PresentationFormat>On-screen Show (4:3)</PresentationFormat>
  <Paragraphs>61</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Theme1</vt:lpstr>
      <vt:lpstr>PowerPoint Presentation</vt:lpstr>
      <vt:lpstr>.</vt:lpstr>
      <vt:lpstr>.</vt:lpstr>
      <vt:lpstr>.</vt:lpstr>
      <vt:lpstr>.</vt:lpstr>
      <vt:lpstr>-</vt:lpstr>
      <vt:lpst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Vipin Attri</cp:lastModifiedBy>
  <cp:revision>172</cp:revision>
  <dcterms:created xsi:type="dcterms:W3CDTF">2024-07-10T18:26:37Z</dcterms:created>
  <dcterms:modified xsi:type="dcterms:W3CDTF">2026-05-07T18:53:58Z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2023-09-09T00:00:00Z</vt:filetime>
  </property>
  <property fmtid="{D5CDD505-2E9C-101B-9397-08002B2CF9AE}" pid="3" name="Creator">
    <vt:lpwstr>Microsoft® PowerPoint® 2013</vt:lpwstr>
  </property>
  <property fmtid="{D5CDD505-2E9C-101B-9397-08002B2CF9AE}" pid="4" name="LastSaved">
    <vt:filetime>2024-07-10T00:00:00Z</vt:filetime>
  </property>
</Properties>
</file>